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28016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4AF37"/>
                </a:solidFill>
                <a:latin typeface="Noto Sans JP"/>
              </a:rPr>
              <a:t>名古屋の経営者・起業家向け AI活用支援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82880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Noto Sans JP"/>
              </a:rPr>
              <a:t>AIを、使える知識から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51460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D4AF37"/>
                </a:solidFill>
                <a:latin typeface="Noto Sans JP"/>
              </a:rPr>
              <a:t>「仕事が回る仕組み」へ。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38328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D6F1"/>
                </a:solidFill>
                <a:latin typeface="Noto Sans JP"/>
              </a:rPr>
              <a:t>ChatGPT・Gemini・Claudeなどを実務に落とし込み、
ホームページ・業務フロー・SNS発信まで一緒に整える伴走支援です。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4572000"/>
            <a:ext cx="3840480" cy="384048"/>
          </a:xfrm>
          <a:prstGeom prst="rect">
            <a:avLst/>
          </a:prstGeom>
          <a:solidFill>
            <a:srgbClr val="172A45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4590288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D4AF37"/>
                </a:solidFill>
                <a:latin typeface="Noto Sans JP"/>
              </a:rPr>
              <a:t>AI活用インストラクター / 実装パートナー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585216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92B0"/>
                </a:solidFill>
                <a:latin typeface="Noto Sans JP"/>
              </a:rPr>
              <a:t>FinEdit  |  勝目 麻希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17352" y="644652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445060"/>
                </a:solidFill>
                <a:latin typeface="Noto Sans JP"/>
              </a:rPr>
              <a:t>01 / 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486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D4AF37"/>
                </a:solidFill>
                <a:latin typeface="Noto Sans JP"/>
              </a:rPr>
              <a:t>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  <a:latin typeface="Noto Sans JP"/>
              </a:rPr>
              <a:t>こんなお悩みはありませんか？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1097280" cy="381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828800"/>
            <a:ext cx="33832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828800"/>
            <a:ext cx="64008" cy="150876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2029968"/>
            <a:ext cx="3127248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Noto Sans JP"/>
              </a:rPr>
              <a:t>ChatGPTを使ってみたが、
仕事の成果につながっていない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6240" y="1828800"/>
            <a:ext cx="33832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06240" y="1828800"/>
            <a:ext cx="64008" cy="150876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70832" y="2029968"/>
            <a:ext cx="3127248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Noto Sans JP"/>
              </a:rPr>
              <a:t>どの業務にAIを使えばよいか、
社内で判断できる人がいない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18120" y="1828800"/>
            <a:ext cx="33832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18120" y="1828800"/>
            <a:ext cx="64008" cy="150876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82712" y="2029968"/>
            <a:ext cx="3127248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Noto Sans JP"/>
              </a:rPr>
              <a:t>情報漏洩やセキュリティが不安で、
社内導入に踏み切れない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3538728"/>
            <a:ext cx="33832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4360" y="3538728"/>
            <a:ext cx="64008" cy="150876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8952" y="3739896"/>
            <a:ext cx="3127248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Noto Sans JP"/>
              </a:rPr>
              <a:t>AI研修を受けたが、
日常業務に定着していない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6240" y="3538728"/>
            <a:ext cx="33832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06240" y="3538728"/>
            <a:ext cx="64008" cy="150876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70832" y="3739896"/>
            <a:ext cx="3127248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Noto Sans JP"/>
              </a:rPr>
              <a:t>ホームページを作りたいが、
何から始めればいいかわからない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818120" y="3538728"/>
            <a:ext cx="33832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818120" y="3538728"/>
            <a:ext cx="64008" cy="150876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82712" y="3739896"/>
            <a:ext cx="3127248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Noto Sans JP"/>
              </a:rPr>
              <a:t>SNSや情報発信を始めたいが、
継続できる仕組みがない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17352" y="644652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56070"/>
                </a:solidFill>
                <a:latin typeface="Noto Sans JP"/>
              </a:rPr>
              <a:t>02 / 09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486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D4AF37"/>
                </a:solidFill>
                <a:latin typeface="Noto Sans JP"/>
              </a:rPr>
              <a:t>OUR STRENGTHS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Noto Sans JP"/>
              </a:rPr>
              <a:t>FinEditが選ばれる 3つの理由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1097280" cy="381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12648" y="1920240"/>
            <a:ext cx="3383280" cy="3200400"/>
          </a:xfrm>
          <a:prstGeom prst="rect">
            <a:avLst/>
          </a:prstGeom>
          <a:solidFill>
            <a:srgbClr val="172A45"/>
          </a:solidFill>
          <a:ln w="12700">
            <a:solidFill>
              <a:srgbClr val="2A3F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12648" y="1920240"/>
            <a:ext cx="3383280" cy="6400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2103120"/>
            <a:ext cx="1371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2A3F58"/>
                </a:solidFill>
                <a:latin typeface="Noto Sans JP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2926080"/>
            <a:ext cx="3063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D4AF37"/>
                </a:solidFill>
                <a:latin typeface="Noto Sans JP"/>
              </a:rPr>
              <a:t>整える力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3520440"/>
            <a:ext cx="3063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CCD6F1"/>
                </a:solidFill>
                <a:latin typeface="Noto Sans JP"/>
              </a:rPr>
              <a:t>元銀行員としての視点で、業務・数字・リスクを整理。
安全で現実的なAI活用の入口を設計します。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61688" y="1920240"/>
            <a:ext cx="3383280" cy="3200400"/>
          </a:xfrm>
          <a:prstGeom prst="rect">
            <a:avLst/>
          </a:prstGeom>
          <a:solidFill>
            <a:srgbClr val="172A45"/>
          </a:solidFill>
          <a:ln w="12700">
            <a:solidFill>
              <a:srgbClr val="2A3F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61688" y="1920240"/>
            <a:ext cx="3383280" cy="6400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4568" y="2103120"/>
            <a:ext cx="1371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2A3F58"/>
                </a:solidFill>
                <a:latin typeface="Noto Sans JP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4568" y="2926080"/>
            <a:ext cx="3063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D4AF37"/>
                </a:solidFill>
                <a:latin typeface="Noto Sans JP"/>
              </a:rPr>
              <a:t>伝える力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44568" y="3520440"/>
            <a:ext cx="3063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CCD6F1"/>
                </a:solidFill>
                <a:latin typeface="Noto Sans JP"/>
              </a:rPr>
              <a:t>金融・ビジネス領域のプロライターとして、
事業の魅力や提供価値をわかりやすい言葉に変換します。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10728" y="1920240"/>
            <a:ext cx="3383280" cy="3200400"/>
          </a:xfrm>
          <a:prstGeom prst="rect">
            <a:avLst/>
          </a:prstGeom>
          <a:solidFill>
            <a:srgbClr val="172A45"/>
          </a:solidFill>
          <a:ln w="12700">
            <a:solidFill>
              <a:srgbClr val="2A3F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10728" y="1920240"/>
            <a:ext cx="3383280" cy="6400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93608" y="2103120"/>
            <a:ext cx="1371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2A3F58"/>
                </a:solidFill>
                <a:latin typeface="Noto Sans JP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93608" y="2926080"/>
            <a:ext cx="3063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D4AF37"/>
                </a:solidFill>
                <a:latin typeface="Noto Sans JP"/>
              </a:rPr>
              <a:t>形にする力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93608" y="3520440"/>
            <a:ext cx="3063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CCD6F1"/>
                </a:solidFill>
                <a:latin typeface="Noto Sans JP"/>
              </a:rPr>
              <a:t>講座で終わらせず、LP・業務フロー・SNS導線・
実務プロンプトまで、使える形に落とし込みます。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17352" y="644652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445060"/>
                </a:solidFill>
                <a:latin typeface="Noto Sans JP"/>
              </a:rPr>
              <a:t>03 / 09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486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D4AF37"/>
                </a:solidFill>
                <a:latin typeface="Noto Sans JP"/>
              </a:rPr>
              <a:t>WHAT WE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  <a:latin typeface="Noto Sans JP"/>
              </a:rPr>
              <a:t>一緒に整えられるもの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1097280" cy="381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828800"/>
            <a:ext cx="3383280" cy="1508760"/>
          </a:xfrm>
          <a:prstGeom prst="rect">
            <a:avLst/>
          </a:prstGeom>
          <a:solidFill>
            <a:srgbClr val="F5F6F8"/>
          </a:solidFill>
          <a:ln w="12700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828800"/>
            <a:ext cx="54864" cy="150876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0664" y="1965960"/>
            <a:ext cx="3154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A192F"/>
                </a:solidFill>
                <a:latin typeface="Noto Sans JP"/>
              </a:rPr>
              <a:t>サービスLP・ホームページ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" y="2423160"/>
            <a:ext cx="3154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56070"/>
                </a:solidFill>
                <a:latin typeface="Noto Sans JP"/>
              </a:rPr>
              <a:t>構成、文章、デザイン、コード生成まで
一気通貫で整えます。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6240" y="1828800"/>
            <a:ext cx="3383280" cy="1508760"/>
          </a:xfrm>
          <a:prstGeom prst="rect">
            <a:avLst/>
          </a:prstGeom>
          <a:solidFill>
            <a:srgbClr val="F5F6F8"/>
          </a:solidFill>
          <a:ln w="12700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06240" y="1828800"/>
            <a:ext cx="54864" cy="150876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52544" y="1965960"/>
            <a:ext cx="3154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A192F"/>
                </a:solidFill>
                <a:latin typeface="Noto Sans JP"/>
              </a:rPr>
              <a:t>業務フロー・マニュアル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52544" y="2423160"/>
            <a:ext cx="3154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56070"/>
                </a:solidFill>
                <a:latin typeface="Noto Sans JP"/>
              </a:rPr>
              <a:t>属人化した業務を可視化し、
誰でも回せる形に整理します。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818120" y="1828800"/>
            <a:ext cx="3383280" cy="1508760"/>
          </a:xfrm>
          <a:prstGeom prst="rect">
            <a:avLst/>
          </a:prstGeom>
          <a:solidFill>
            <a:srgbClr val="F5F6F8"/>
          </a:solidFill>
          <a:ln w="12700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818120" y="1828800"/>
            <a:ext cx="54864" cy="150876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64424" y="1965960"/>
            <a:ext cx="3154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A192F"/>
                </a:solidFill>
                <a:latin typeface="Noto Sans JP"/>
              </a:rPr>
              <a:t>SNS・発信設計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64424" y="2423160"/>
            <a:ext cx="3154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56070"/>
                </a:solidFill>
                <a:latin typeface="Noto Sans JP"/>
              </a:rPr>
              <a:t>投稿ネタ、構成、文章、プロフィール、
導線をAIで仕組み化します。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3538728"/>
            <a:ext cx="3383280" cy="1508760"/>
          </a:xfrm>
          <a:prstGeom prst="rect">
            <a:avLst/>
          </a:prstGeom>
          <a:solidFill>
            <a:srgbClr val="F5F6F8"/>
          </a:solidFill>
          <a:ln w="12700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94360" y="3538728"/>
            <a:ext cx="54864" cy="150876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0664" y="3675888"/>
            <a:ext cx="3154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A192F"/>
                </a:solidFill>
                <a:latin typeface="Noto Sans JP"/>
              </a:rPr>
              <a:t>AI活用の仕組み化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0664" y="4133088"/>
            <a:ext cx="3154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56070"/>
                </a:solidFill>
                <a:latin typeface="Noto Sans JP"/>
              </a:rPr>
              <a:t>型・手順・テンプレートを整え、
社内で再現できる仕組みにします。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06240" y="3538728"/>
            <a:ext cx="3383280" cy="1508760"/>
          </a:xfrm>
          <a:prstGeom prst="rect">
            <a:avLst/>
          </a:prstGeom>
          <a:solidFill>
            <a:srgbClr val="F5F6F8"/>
          </a:solidFill>
          <a:ln w="12700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06240" y="3538728"/>
            <a:ext cx="54864" cy="150876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52544" y="3675888"/>
            <a:ext cx="3154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A192F"/>
                </a:solidFill>
                <a:latin typeface="Noto Sans JP"/>
              </a:rPr>
              <a:t>簡易業務アプリ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52544" y="4133088"/>
            <a:ext cx="3154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56070"/>
                </a:solidFill>
                <a:latin typeface="Noto Sans JP"/>
              </a:rPr>
              <a:t>顧客管理、日報、教材など
小さく使えるツールづくりを支援します。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818120" y="3538728"/>
            <a:ext cx="3383280" cy="1508760"/>
          </a:xfrm>
          <a:prstGeom prst="rect">
            <a:avLst/>
          </a:prstGeom>
          <a:solidFill>
            <a:srgbClr val="F5F6F8"/>
          </a:solidFill>
          <a:ln w="12700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818120" y="3538728"/>
            <a:ext cx="54864" cy="150876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64424" y="3675888"/>
            <a:ext cx="3154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A192F"/>
                </a:solidFill>
                <a:latin typeface="Noto Sans JP"/>
              </a:rPr>
              <a:t>企画書・提案資料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64424" y="4133088"/>
            <a:ext cx="3154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56070"/>
                </a:solidFill>
                <a:latin typeface="Noto Sans JP"/>
              </a:rPr>
              <a:t>事業の強みを整理し、
伝わる資料や営業導線に落とし込みます。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17352" y="644652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56070"/>
                </a:solidFill>
                <a:latin typeface="Noto Sans JP"/>
              </a:rPr>
              <a:t>04 / 09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486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D4AF37"/>
                </a:solidFill>
                <a:latin typeface="Noto Sans JP"/>
              </a:rPr>
              <a:t>SERVICES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Noto Sans JP"/>
              </a:rPr>
              <a:t>サービス内容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1097280" cy="381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920240"/>
            <a:ext cx="10515600" cy="1005840"/>
          </a:xfrm>
          <a:prstGeom prst="rect">
            <a:avLst/>
          </a:prstGeom>
          <a:solidFill>
            <a:srgbClr val="172A45"/>
          </a:solidFill>
          <a:ln w="12700">
            <a:solidFill>
              <a:srgbClr val="2A3F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920240"/>
            <a:ext cx="64008" cy="100584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057400"/>
            <a:ext cx="502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A3F58"/>
                </a:solidFill>
                <a:latin typeface="Noto Sans JP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201168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Noto Sans JP"/>
              </a:rPr>
              <a:t>AIホームページ・LP制作支援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2423160"/>
            <a:ext cx="9144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D6F1"/>
                </a:solidFill>
                <a:latin typeface="Noto Sans JP"/>
              </a:rPr>
              <a:t>事業内容を整理し、集客導線まで考えたホームページ・LPをAIと一緒に形にします。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090672"/>
            <a:ext cx="10515600" cy="1005840"/>
          </a:xfrm>
          <a:prstGeom prst="rect">
            <a:avLst/>
          </a:prstGeom>
          <a:solidFill>
            <a:srgbClr val="172A45"/>
          </a:solidFill>
          <a:ln w="12700">
            <a:solidFill>
              <a:srgbClr val="2A3F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3090672"/>
            <a:ext cx="64008" cy="100584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227832"/>
            <a:ext cx="502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A3F58"/>
                </a:solidFill>
                <a:latin typeface="Noto Sans JP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3182112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Noto Sans JP"/>
              </a:rPr>
              <a:t>業務フロー整理・AI活用設計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3593592"/>
            <a:ext cx="9144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D6F1"/>
                </a:solidFill>
                <a:latin typeface="Noto Sans JP"/>
              </a:rPr>
              <a:t>繰り返し業務や属人化している作業を可視化し、AIで効率化できる形へ落とし込みます。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4261104"/>
            <a:ext cx="10515600" cy="1005840"/>
          </a:xfrm>
          <a:prstGeom prst="rect">
            <a:avLst/>
          </a:prstGeom>
          <a:solidFill>
            <a:srgbClr val="172A45"/>
          </a:solidFill>
          <a:ln w="12700">
            <a:solidFill>
              <a:srgbClr val="2A3F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4261104"/>
            <a:ext cx="64008" cy="100584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398264"/>
            <a:ext cx="502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A3F58"/>
                </a:solidFill>
                <a:latin typeface="Noto Sans JP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4352544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Noto Sans JP"/>
              </a:rPr>
              <a:t>SNS・発信サポート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20" y="4764024"/>
            <a:ext cx="9144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D6F1"/>
                </a:solidFill>
                <a:latin typeface="Noto Sans JP"/>
              </a:rPr>
              <a:t>投稿ネタ、構成、文章、プロフィール、サービス導線まで発信全体を整えます。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5431536"/>
            <a:ext cx="10515600" cy="1005840"/>
          </a:xfrm>
          <a:prstGeom prst="rect">
            <a:avLst/>
          </a:prstGeom>
          <a:solidFill>
            <a:srgbClr val="172A45"/>
          </a:solidFill>
          <a:ln w="12700">
            <a:solidFill>
              <a:srgbClr val="2A3F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" y="5431536"/>
            <a:ext cx="64008" cy="100584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5568696"/>
            <a:ext cx="502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A3F58"/>
                </a:solidFill>
                <a:latin typeface="Noto Sans JP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20" y="5522976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Noto Sans JP"/>
              </a:rPr>
              <a:t>AI活用研修・ワークショップ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17320" y="5934456"/>
            <a:ext cx="9144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D6F1"/>
                </a:solidFill>
                <a:latin typeface="Noto Sans JP"/>
              </a:rPr>
              <a:t>AI未経験の方にもわかりやすく、当日から使えるプロンプトと運用ルールを設計します。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17352" y="644652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445060"/>
                </a:solidFill>
                <a:latin typeface="Noto Sans JP"/>
              </a:rPr>
              <a:t>05 / 09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486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D4AF37"/>
                </a:solidFill>
                <a:latin typeface="Noto Sans JP"/>
              </a:rPr>
              <a:t>PROCESS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  <a:latin typeface="Noto Sans JP"/>
              </a:rPr>
              <a:t>ご相談の流れ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1097280" cy="381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737360" y="3108960"/>
            <a:ext cx="8686800" cy="381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463040" y="1874520"/>
            <a:ext cx="640080" cy="640080"/>
          </a:xfrm>
          <a:prstGeom prst="rect">
            <a:avLst/>
          </a:prstGeom>
          <a:solidFill>
            <a:srgbClr val="0A192F"/>
          </a:solidFill>
          <a:ln w="317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63040" y="187452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Noto Sans JP"/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383280"/>
            <a:ext cx="246888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3493008"/>
            <a:ext cx="2240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D4AF37"/>
                </a:solidFill>
                <a:latin typeface="Noto Sans JP"/>
              </a:rPr>
              <a:t>STEP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858768"/>
            <a:ext cx="2240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A192F"/>
                </a:solidFill>
                <a:latin typeface="Noto Sans JP"/>
              </a:rPr>
              <a:t>無料相談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389120"/>
            <a:ext cx="22402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6070"/>
                </a:solidFill>
                <a:latin typeface="Noto Sans JP"/>
              </a:rPr>
              <a:t>現状の課題や
作りたいものをヒアリング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06240" y="1874520"/>
            <a:ext cx="640080" cy="640080"/>
          </a:xfrm>
          <a:prstGeom prst="rect">
            <a:avLst/>
          </a:prstGeom>
          <a:solidFill>
            <a:srgbClr val="0A192F"/>
          </a:solidFill>
          <a:ln w="317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06240" y="187452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Noto Sans JP"/>
              </a:rPr>
              <a:t>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91840" y="3383280"/>
            <a:ext cx="246888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29000" y="3493008"/>
            <a:ext cx="2240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D4AF37"/>
                </a:solidFill>
                <a:latin typeface="Noto Sans JP"/>
              </a:rPr>
              <a:t>STEP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29000" y="3858768"/>
            <a:ext cx="2240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A192F"/>
                </a:solidFill>
                <a:latin typeface="Noto Sans JP"/>
              </a:rPr>
              <a:t>整理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29000" y="4389120"/>
            <a:ext cx="22402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6070"/>
                </a:solidFill>
                <a:latin typeface="Noto Sans JP"/>
              </a:rPr>
              <a:t>業務・発信・導線を可視化し、
優先順位を決める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949440" y="1874520"/>
            <a:ext cx="640080" cy="640080"/>
          </a:xfrm>
          <a:prstGeom prst="rect">
            <a:avLst/>
          </a:prstGeom>
          <a:solidFill>
            <a:srgbClr val="0A192F"/>
          </a:solidFill>
          <a:ln w="317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49440" y="187452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Noto Sans JP"/>
              </a:rPr>
              <a:t>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35040" y="3383280"/>
            <a:ext cx="246888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72200" y="3493008"/>
            <a:ext cx="2240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D4AF37"/>
                </a:solidFill>
                <a:latin typeface="Noto Sans JP"/>
              </a:rPr>
              <a:t>STEP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72200" y="3858768"/>
            <a:ext cx="2240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A192F"/>
                </a:solidFill>
                <a:latin typeface="Noto Sans JP"/>
              </a:rPr>
              <a:t>設計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72200" y="4389120"/>
            <a:ext cx="22402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6070"/>
                </a:solidFill>
                <a:latin typeface="Noto Sans JP"/>
              </a:rPr>
              <a:t>AIで何を効率化・制作するか
具体化する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692640" y="1874520"/>
            <a:ext cx="640080" cy="640080"/>
          </a:xfrm>
          <a:prstGeom prst="rect">
            <a:avLst/>
          </a:prstGeom>
          <a:solidFill>
            <a:srgbClr val="0A192F"/>
          </a:solidFill>
          <a:ln w="317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92640" y="187452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Noto Sans JP"/>
              </a:rPr>
              <a:t>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778240" y="3383280"/>
            <a:ext cx="246888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915400" y="3493008"/>
            <a:ext cx="2240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D4AF37"/>
                </a:solidFill>
                <a:latin typeface="Noto Sans JP"/>
              </a:rPr>
              <a:t>STEP 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15400" y="3858768"/>
            <a:ext cx="2240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A192F"/>
                </a:solidFill>
                <a:latin typeface="Noto Sans JP"/>
              </a:rPr>
              <a:t>実装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15400" y="4389120"/>
            <a:ext cx="22402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6070"/>
                </a:solidFill>
                <a:latin typeface="Noto Sans JP"/>
              </a:rPr>
              <a:t>ホームページ・業務フロー・
SNS導線などを形にする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817352" y="644652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56070"/>
                </a:solidFill>
                <a:latin typeface="Noto Sans JP"/>
              </a:rPr>
              <a:t>06 / 09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486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D4AF37"/>
                </a:solidFill>
                <a:latin typeface="Noto Sans JP"/>
              </a:rPr>
              <a:t>TRACK RECORD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  <a:latin typeface="Noto Sans JP"/>
              </a:rPr>
              <a:t>実績・登壇歴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1097280" cy="381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874519"/>
            <a:ext cx="10515600" cy="1325880"/>
          </a:xfrm>
          <a:prstGeom prst="rect">
            <a:avLst/>
          </a:prstGeom>
          <a:solidFill>
            <a:srgbClr val="F5F6F8"/>
          </a:solidFill>
          <a:ln w="12700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874519"/>
            <a:ext cx="64008" cy="132588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965959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6070"/>
                </a:solidFill>
                <a:latin typeface="Noto Sans JP"/>
              </a:rPr>
              <a:t>2026年4月24日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258567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A192F"/>
                </a:solidFill>
                <a:latin typeface="Noto Sans JP"/>
              </a:rPr>
              <a:t>NAGOYA CONNÉCT — モデレーター登壇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670047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6070"/>
                </a:solidFill>
                <a:latin typeface="Noto Sans JP"/>
              </a:rPr>
              <a:t>名古屋の女性コミュニティイベントにてモデレーターを務め、地方における男女収入格差と
AI活用による選択肢の広がりをテーマに発信。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401567"/>
            <a:ext cx="10515600" cy="1325880"/>
          </a:xfrm>
          <a:prstGeom prst="rect">
            <a:avLst/>
          </a:prstGeom>
          <a:solidFill>
            <a:srgbClr val="F5F6F8"/>
          </a:solidFill>
          <a:ln w="12700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3401567"/>
            <a:ext cx="64008" cy="132588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493007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6070"/>
                </a:solidFill>
                <a:latin typeface="Noto Sans JP"/>
              </a:rPr>
              <a:t>2026年2月1日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785615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A192F"/>
                </a:solidFill>
                <a:latin typeface="Noto Sans JP"/>
              </a:rPr>
              <a:t>学び舎mom株式会社主催「集中伴走ワークショップ」— メイン講師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197095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6070"/>
                </a:solidFill>
                <a:latin typeface="Noto Sans JP"/>
              </a:rPr>
              <a:t>女性起業家・経営者向けのDX・AI活用講座にて、メイン講師として登壇。
実務で使えるAI活用の手順と型を指導。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4928615"/>
            <a:ext cx="10515600" cy="1325880"/>
          </a:xfrm>
          <a:prstGeom prst="rect">
            <a:avLst/>
          </a:prstGeom>
          <a:solidFill>
            <a:srgbClr val="F5F6F8"/>
          </a:solidFill>
          <a:ln w="12700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4928615"/>
            <a:ext cx="64008" cy="132588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5020055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6070"/>
                </a:solidFill>
                <a:latin typeface="Noto Sans JP"/>
              </a:rPr>
              <a:t>2025年2月・3月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312663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A192F"/>
                </a:solidFill>
                <a:latin typeface="Noto Sans JP"/>
              </a:rPr>
              <a:t>一般社団法人 日本小児発達子育て支援協会「VARY」— セミナー講師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724143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6070"/>
                </a:solidFill>
                <a:latin typeface="Noto Sans JP"/>
              </a:rPr>
              <a:t>オンラインコミュニティ「VARY」にて、AIを活用した教材・アプリづくりをレクチャー。
2回にわたり登壇。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17352" y="644652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56070"/>
                </a:solidFill>
                <a:latin typeface="Noto Sans JP"/>
              </a:rPr>
              <a:t>07 / 09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486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D4AF37"/>
                </a:solidFill>
                <a:latin typeface="Noto Sans JP"/>
              </a:rPr>
              <a:t>PROFILE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097280"/>
            <a:ext cx="2926080" cy="5303520"/>
          </a:xfrm>
          <a:prstGeom prst="rect">
            <a:avLst/>
          </a:prstGeom>
          <a:solidFill>
            <a:srgbClr val="172A45"/>
          </a:solidFill>
          <a:ln w="12700">
            <a:solidFill>
              <a:srgbClr val="2A3F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234440" y="1371600"/>
            <a:ext cx="1737360" cy="1737360"/>
          </a:xfrm>
          <a:prstGeom prst="rect">
            <a:avLst/>
          </a:prstGeom>
          <a:solidFill>
            <a:srgbClr val="1E3552"/>
          </a:solidFill>
          <a:ln w="254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200400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Noto Sans JP"/>
              </a:rPr>
              <a:t>勝目 麻希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70332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D4AF37"/>
                </a:solidFill>
                <a:latin typeface="Noto Sans JP"/>
              </a:rPr>
              <a:t>AI活用インストラクター / プロライター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4251960"/>
            <a:ext cx="2468880" cy="347472"/>
          </a:xfrm>
          <a:prstGeom prst="rect">
            <a:avLst/>
          </a:prstGeom>
          <a:solidFill>
            <a:srgbClr val="0A192F"/>
          </a:solidFill>
          <a:ln w="12700">
            <a:solidFill>
              <a:srgbClr val="2A3F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270248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D4AF37"/>
                </a:solidFill>
                <a:latin typeface="Noto Sans JP"/>
              </a:rPr>
              <a:t>元銀行員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8680" y="4709160"/>
            <a:ext cx="2468880" cy="347472"/>
          </a:xfrm>
          <a:prstGeom prst="rect">
            <a:avLst/>
          </a:prstGeom>
          <a:solidFill>
            <a:srgbClr val="0A192F"/>
          </a:solidFill>
          <a:ln w="12700">
            <a:solidFill>
              <a:srgbClr val="2A3F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4727448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D4AF37"/>
                </a:solidFill>
                <a:latin typeface="Noto Sans JP"/>
              </a:rPr>
              <a:t>プロライター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8680" y="5166360"/>
            <a:ext cx="2468880" cy="347472"/>
          </a:xfrm>
          <a:prstGeom prst="rect">
            <a:avLst/>
          </a:prstGeom>
          <a:solidFill>
            <a:srgbClr val="0A192F"/>
          </a:solidFill>
          <a:ln w="12700">
            <a:solidFill>
              <a:srgbClr val="2A3F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5184648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D4AF37"/>
                </a:solidFill>
                <a:latin typeface="Noto Sans JP"/>
              </a:rPr>
              <a:t>名古屋拠点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" y="5623560"/>
            <a:ext cx="2468880" cy="347472"/>
          </a:xfrm>
          <a:prstGeom prst="rect">
            <a:avLst/>
          </a:prstGeom>
          <a:solidFill>
            <a:srgbClr val="0A192F"/>
          </a:solidFill>
          <a:ln w="12700">
            <a:solidFill>
              <a:srgbClr val="2A3F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5641848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D4AF37"/>
                </a:solidFill>
                <a:latin typeface="Noto Sans JP"/>
              </a:rPr>
              <a:t>オンライン対応可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1920" y="1097280"/>
            <a:ext cx="75895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Noto Sans JP"/>
              </a:rPr>
              <a:t>地元「名古屋」に密着したサポート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931920" y="1737360"/>
            <a:ext cx="1097280" cy="381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31920" y="1874519"/>
            <a:ext cx="7589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CCD6F1"/>
                </a:solidFill>
                <a:latin typeface="Noto Sans JP"/>
              </a:rPr>
              <a:t>愛知県名古屋市を拠点に、オンラインはもちろん対面でのきめ細かなヒアリングにも対応。
AIの機能説明だけでなく、貴社の課題を整理し、実際の業務・発信・集客導線にどう使うかまで一緒に考えます。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31920" y="3291840"/>
            <a:ext cx="7589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CCD6F1"/>
                </a:solidFill>
                <a:latin typeface="Noto Sans JP"/>
              </a:rPr>
              <a:t>元銀行員としての実務経験と、金融・ビジネス領域のライターとして培った言語化スキルを活かし、
安全かつ実践的なAI活用を支援。「難しいことをわかりやすく、仕事で使える形にする」ことを大切にしています。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17352" y="644652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445060"/>
                </a:solidFill>
                <a:latin typeface="Noto Sans JP"/>
              </a:rPr>
              <a:t>08 / 09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D4AF37"/>
                </a:solidFill>
                <a:latin typeface="Noto Sans JP"/>
              </a:rPr>
              <a:t>CONTACT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6868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Noto Sans JP"/>
              </a:rPr>
              <a:t>まずは無料相談から。
一緒に整えましょう。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868680"/>
            <a:ext cx="2011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Noto Sans JP"/>
              </a:rPr>
              <a:t>まずは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06040" y="868680"/>
            <a:ext cx="320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D4AF37"/>
                </a:solidFill>
                <a:latin typeface="Noto Sans JP"/>
              </a:rPr>
              <a:t>無料相談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0" y="868680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Noto Sans JP"/>
              </a:rPr>
              <a:t>から。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7830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CCD6F1"/>
                </a:solidFill>
                <a:latin typeface="Noto Sans JP"/>
              </a:rPr>
              <a:t>ホームページ制作、業務フロー整理、SNS発信、AI研修など、
今の課題に合わせてご提案します。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743200"/>
            <a:ext cx="5943600" cy="3200400"/>
          </a:xfrm>
          <a:prstGeom prst="rect">
            <a:avLst/>
          </a:prstGeom>
          <a:solidFill>
            <a:srgbClr val="172A45"/>
          </a:solidFill>
          <a:ln w="12700">
            <a:solidFill>
              <a:srgbClr val="2A3F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2743200"/>
            <a:ext cx="5943600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83464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4AF37"/>
                </a:solidFill>
                <a:latin typeface="Noto Sans JP"/>
              </a:rPr>
              <a:t>無料相談でできること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337560"/>
            <a:ext cx="5486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FFFFFF"/>
                </a:solidFill>
                <a:latin typeface="Noto Sans JP"/>
              </a:rPr>
              <a:t>✓  現在の課題・やりたいことのヒアリング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849624"/>
            <a:ext cx="5486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FFFFFF"/>
                </a:solidFill>
                <a:latin typeface="Noto Sans JP"/>
              </a:rPr>
              <a:t>✓  AIで効率化できそうな業務の棚卸し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361688"/>
            <a:ext cx="5486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FFFFFF"/>
                </a:solidFill>
                <a:latin typeface="Noto Sans JP"/>
              </a:rPr>
              <a:t>✓  最初の一歩となる具体的なアクション提案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873752"/>
            <a:ext cx="5486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FFFFFF"/>
                </a:solidFill>
                <a:latin typeface="Noto Sans JP"/>
              </a:rPr>
              <a:t>✓  サービス内容・費用感のご案内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06640" y="27889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4AF37"/>
                </a:solidFill>
                <a:latin typeface="Noto Sans JP"/>
              </a:rPr>
              <a:t>お問い合わせ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6640" y="333756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D6F1"/>
                </a:solidFill>
                <a:latin typeface="Noto Sans JP"/>
              </a:rPr>
              <a:t>https://makikatsume-ai.com/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06640" y="3931920"/>
            <a:ext cx="4114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D6F1"/>
                </a:solidFill>
                <a:latin typeface="Noto Sans JP"/>
              </a:rPr>
              <a:t>FinEdit
勝目 麻希（かつめ まき）
AI活用インストラクター / プロライター
名古屋市拠点 ／ オンライン全国対応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17352" y="644652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445060"/>
                </a:solidFill>
                <a:latin typeface="Noto Sans JP"/>
              </a:rPr>
              <a:t>09 / 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